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1.png"/><Relationship Id="rId3" Type="http://schemas.openxmlformats.org/officeDocument/2006/relationships/image" Target="../media/image-7-1.png"/><Relationship Id="rId4" Type="http://schemas.openxmlformats.org/officeDocument/2006/relationships/image" Target="../media/image-7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463040"/>
            <a:ext cx="4754880" cy="4754880"/>
          </a:xfrm>
          <a:prstGeom prst="ellipse">
            <a:avLst/>
          </a:prstGeom>
          <a:solidFill>
            <a:srgbClr val="6366F1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206240"/>
            <a:ext cx="4206240" cy="4206240"/>
          </a:xfrm>
          <a:prstGeom prst="ellipse">
            <a:avLst/>
          </a:prstGeom>
          <a:solidFill>
            <a:srgbClr val="EC4899">
              <a:alpha val="14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822960"/>
            <a:ext cx="868680" cy="868680"/>
          </a:xfrm>
          <a:prstGeom prst="ellipse">
            <a:avLst/>
          </a:prstGeom>
          <a:solidFill>
            <a:srgbClr val="6366F1"/>
          </a:solidFill>
          <a:ln/>
        </p:spPr>
      </p:sp>
      <p:pic>
        <p:nvPicPr>
          <p:cNvPr id="5" name="Image 0" descr="icons/walle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0130" y="1040130"/>
            <a:ext cx="434340" cy="4343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7240" y="2331720"/>
            <a:ext cx="9601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FinWise AI</a:t>
            </a:r>
            <a:endParaRPr lang="en-US" sz="5400" dirty="0"/>
          </a:p>
        </p:txBody>
      </p:sp>
      <p:sp>
        <p:nvSpPr>
          <p:cNvPr id="7" name="Text 4"/>
          <p:cNvSpPr/>
          <p:nvPr/>
        </p:nvSpPr>
        <p:spPr>
          <a:xfrm>
            <a:off x="822960" y="3337560"/>
            <a:ext cx="8961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CBD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Personal Financial Analysis &amp; Smart Budget Assistant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822960" y="3913632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LangChain + Streamlit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822960" y="4892040"/>
            <a:ext cx="2834640" cy="0"/>
          </a:xfrm>
          <a:prstGeom prst="line">
            <a:avLst/>
          </a:prstGeom>
          <a:noFill/>
          <a:ln w="12700">
            <a:solidFill>
              <a:srgbClr val="3A3F6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5074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FinTech Programming Assignment  ·  Educational Prototype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FinWise AI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9905695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People can't see where their money actually goes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148840"/>
            <a:ext cx="33832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2700">
            <a:solidFill>
              <a:srgbClr val="E5E4F5"/>
            </a:solidFill>
            <a:prstDash val="solid"/>
          </a:ln>
          <a:effectLst>
            <a:outerShdw sx="100000" sy="100000" kx="0" ky="0" algn="bl" rotWithShape="0" blurRad="127000" dist="38100" dir="5400000">
              <a:srgbClr val="1A1F3A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514600"/>
            <a:ext cx="777240" cy="777240"/>
          </a:xfrm>
          <a:prstGeom prst="ellipse">
            <a:avLst/>
          </a:prstGeom>
          <a:solidFill>
            <a:srgbClr val="6366F1"/>
          </a:solidFill>
          <a:ln/>
        </p:spPr>
      </p:sp>
      <p:pic>
        <p:nvPicPr>
          <p:cNvPr id="6" name="Image 0" descr="icons/char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4999" y="2689479"/>
            <a:ext cx="427482" cy="42748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0120" y="35204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structured view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960120" y="402336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Spending is scattered across categories with no clear picture of ratios or trends.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434840" y="2148840"/>
            <a:ext cx="33832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2700">
            <a:solidFill>
              <a:srgbClr val="E5E4F5"/>
            </a:solidFill>
            <a:prstDash val="solid"/>
          </a:ln>
          <a:effectLst>
            <a:outerShdw sx="100000" sy="100000" kx="0" ky="0" algn="bl" rotWithShape="0" blurRad="127000" dist="38100" dir="5400000">
              <a:srgbClr val="1A1F3A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54880" y="2514600"/>
            <a:ext cx="777240" cy="777240"/>
          </a:xfrm>
          <a:prstGeom prst="ellipse">
            <a:avLst/>
          </a:prstGeom>
          <a:solidFill>
            <a:srgbClr val="EC4899"/>
          </a:solidFill>
          <a:ln/>
        </p:spPr>
      </p:sp>
      <p:pic>
        <p:nvPicPr>
          <p:cNvPr id="11" name="Image 1" descr="icons/warning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9759" y="2689479"/>
            <a:ext cx="427482" cy="42748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54880" y="35204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Generic advice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4754880" y="402336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Blog articles and templates rarely reflect a person's actual income and expenses.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8229600" y="2148840"/>
            <a:ext cx="33832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2700">
            <a:solidFill>
              <a:srgbClr val="E5E4F5"/>
            </a:solidFill>
            <a:prstDash val="solid"/>
          </a:ln>
          <a:effectLst>
            <a:outerShdw sx="100000" sy="100000" kx="0" ky="0" algn="bl" rotWithShape="0" blurRad="127000" dist="38100" dir="5400000">
              <a:srgbClr val="1A1F3A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549640" y="2514600"/>
            <a:ext cx="777240" cy="777240"/>
          </a:xfrm>
          <a:prstGeom prst="ellipse">
            <a:avLst/>
          </a:prstGeom>
          <a:solidFill>
            <a:srgbClr val="6366F1"/>
          </a:solidFill>
          <a:ln/>
        </p:spPr>
      </p:sp>
      <p:pic>
        <p:nvPicPr>
          <p:cNvPr id="16" name="Image 2" descr="icons/bullseye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24519" y="2689479"/>
            <a:ext cx="427482" cy="42748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549640" y="35204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personalized plan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8549640" y="402336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 tools turn raw numbers into a concrete, goal-specific improvement plan.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FinWise AI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9905695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FinWise AI turns raw numbers into a live budget dashboard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737360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enter income and expenses. Python computes trustworthy financial ratios, and a LangChain-powered LLM turns those numbers into structured, educational budgeting insight — streamed live into a Streamlit dashboard.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788920"/>
            <a:ext cx="2514600" cy="260604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5E4F5"/>
            </a:solidFill>
            <a:prstDash val="solid"/>
          </a:ln>
          <a:effectLst>
            <a:outerShdw sx="100000" sy="100000" kx="0" ky="0" algn="bl" rotWithShape="0" blurRad="101600" dist="25400" dir="5400000">
              <a:srgbClr val="1A1F3A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3063240"/>
            <a:ext cx="640080" cy="640080"/>
          </a:xfrm>
          <a:prstGeom prst="ellipse">
            <a:avLst/>
          </a:prstGeom>
          <a:solidFill>
            <a:srgbClr val="6366F1"/>
          </a:solidFill>
          <a:ln/>
        </p:spPr>
      </p:sp>
      <p:pic>
        <p:nvPicPr>
          <p:cNvPr id="7" name="Image 0" descr="icons/chartlin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2698" y="3207258"/>
            <a:ext cx="352044" cy="35204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68680" y="3840480"/>
            <a:ext cx="20574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A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Categorize spending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868680" y="4389120"/>
            <a:ext cx="20574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Analyzes 10 expense categories against income.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410712" y="2788920"/>
            <a:ext cx="2514600" cy="260604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5E4F5"/>
            </a:solidFill>
            <a:prstDash val="solid"/>
          </a:ln>
          <a:effectLst>
            <a:outerShdw sx="100000" sy="100000" kx="0" ky="0" algn="bl" rotWithShape="0" blurRad="101600" dist="25400" dir="5400000">
              <a:srgbClr val="1A1F3A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3063240"/>
            <a:ext cx="640080" cy="640080"/>
          </a:xfrm>
          <a:prstGeom prst="ellipse">
            <a:avLst/>
          </a:prstGeom>
          <a:solidFill>
            <a:srgbClr val="EC4899"/>
          </a:solidFill>
          <a:ln/>
        </p:spPr>
      </p:sp>
      <p:pic>
        <p:nvPicPr>
          <p:cNvPr id="12" name="Image 1" descr="icons/sync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3330" y="3207258"/>
            <a:ext cx="352044" cy="35204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39312" y="3840480"/>
            <a:ext cx="20574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A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Savings potential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3639312" y="4389120"/>
            <a:ext cx="20574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high-expense areas and room to save.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181344" y="2788920"/>
            <a:ext cx="2514600" cy="260604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5E4F5"/>
            </a:solidFill>
            <a:prstDash val="solid"/>
          </a:ln>
          <a:effectLst>
            <a:outerShdw sx="100000" sy="100000" kx="0" ky="0" algn="bl" rotWithShape="0" blurRad="101600" dist="25400" dir="5400000">
              <a:srgbClr val="1A1F3A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409944" y="3063240"/>
            <a:ext cx="640080" cy="640080"/>
          </a:xfrm>
          <a:prstGeom prst="ellipse">
            <a:avLst/>
          </a:prstGeom>
          <a:solidFill>
            <a:srgbClr val="6366F1"/>
          </a:solidFill>
          <a:ln/>
        </p:spPr>
      </p:sp>
      <p:pic>
        <p:nvPicPr>
          <p:cNvPr id="17" name="Image 2" descr="icons/listol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3962" y="3207258"/>
            <a:ext cx="352044" cy="35204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09944" y="3840480"/>
            <a:ext cx="20574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A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Personalized plan</a:t>
            </a:r>
            <a:endParaRPr lang="en-US" sz="1450" dirty="0"/>
          </a:p>
        </p:txBody>
      </p:sp>
      <p:sp>
        <p:nvSpPr>
          <p:cNvPr id="19" name="Text 14"/>
          <p:cNvSpPr/>
          <p:nvPr/>
        </p:nvSpPr>
        <p:spPr>
          <a:xfrm>
            <a:off x="6409944" y="4389120"/>
            <a:ext cx="20574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a goal-specific budget strategy.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8951976" y="2788920"/>
            <a:ext cx="2514600" cy="260604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5E4F5"/>
            </a:solidFill>
            <a:prstDash val="solid"/>
          </a:ln>
          <a:effectLst>
            <a:outerShdw sx="100000" sy="100000" kx="0" ky="0" algn="bl" rotWithShape="0" blurRad="101600" dist="25400" dir="5400000">
              <a:srgbClr val="1A1F3A">
                <a:alpha val="1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9180576" y="3063240"/>
            <a:ext cx="640080" cy="640080"/>
          </a:xfrm>
          <a:prstGeom prst="ellipse">
            <a:avLst/>
          </a:prstGeom>
          <a:solidFill>
            <a:srgbClr val="EC4899"/>
          </a:solidFill>
          <a:ln/>
        </p:spPr>
      </p:sp>
      <p:pic>
        <p:nvPicPr>
          <p:cNvPr id="22" name="Image 3" descr="icons/shield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4594" y="3207258"/>
            <a:ext cx="352044" cy="352044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180576" y="3840480"/>
            <a:ext cx="20574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A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 patterns</a:t>
            </a:r>
            <a:endParaRPr lang="en-US" sz="1450" dirty="0"/>
          </a:p>
        </p:txBody>
      </p:sp>
      <p:sp>
        <p:nvSpPr>
          <p:cNvPr id="24" name="Text 18"/>
          <p:cNvSpPr/>
          <p:nvPr/>
        </p:nvSpPr>
        <p:spPr>
          <a:xfrm>
            <a:off x="9180576" y="4389120"/>
            <a:ext cx="20574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Surfaces LOW / MEDIUM / HIGH risk signals.</a:t>
            </a:r>
            <a:endParaRPr lang="en-US" sz="1100" dirty="0"/>
          </a:p>
        </p:txBody>
      </p:sp>
      <p:sp>
        <p:nvSpPr>
          <p:cNvPr id="25" name="Text 19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FinWise AI</a:t>
            </a:r>
            <a:endParaRPr lang="en-US" sz="1000" dirty="0"/>
          </a:p>
        </p:txBody>
      </p:sp>
      <p:sp>
        <p:nvSpPr>
          <p:cNvPr id="26" name="Text 20"/>
          <p:cNvSpPr/>
          <p:nvPr/>
        </p:nvSpPr>
        <p:spPr>
          <a:xfrm>
            <a:off x="9905695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workflow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form input to a streamed recommendation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600200" y="2811780"/>
            <a:ext cx="1527734" cy="0"/>
          </a:xfrm>
          <a:prstGeom prst="line">
            <a:avLst/>
          </a:prstGeom>
          <a:noFill/>
          <a:ln w="19050">
            <a:solidFill>
              <a:srgbClr val="3A3F63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640080" y="2331720"/>
            <a:ext cx="960120" cy="960120"/>
          </a:xfrm>
          <a:prstGeom prst="ellipse">
            <a:avLst/>
          </a:prstGeom>
          <a:solidFill>
            <a:srgbClr val="6366F1"/>
          </a:solidFill>
          <a:ln/>
        </p:spPr>
      </p:sp>
      <p:pic>
        <p:nvPicPr>
          <p:cNvPr id="6" name="Image 0" descr="icons/key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6107" y="2547747"/>
            <a:ext cx="528066" cy="52806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07592" y="2221992"/>
            <a:ext cx="365760" cy="36576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20040" y="3456432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Enter data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228600" y="3822192"/>
            <a:ext cx="17830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AAB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fills the Streamlit form: income, expenses, savings, goal.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088054" y="2811780"/>
            <a:ext cx="1527734" cy="0"/>
          </a:xfrm>
          <a:prstGeom prst="line">
            <a:avLst/>
          </a:prstGeom>
          <a:noFill/>
          <a:ln w="19050">
            <a:solidFill>
              <a:srgbClr val="3A3F63"/>
            </a:solidFill>
            <a:prstDash val="dash"/>
          </a:ln>
        </p:spPr>
      </p:sp>
      <p:sp>
        <p:nvSpPr>
          <p:cNvPr id="11" name="Shape 8"/>
          <p:cNvSpPr/>
          <p:nvPr/>
        </p:nvSpPr>
        <p:spPr>
          <a:xfrm>
            <a:off x="3127934" y="2331720"/>
            <a:ext cx="960120" cy="960120"/>
          </a:xfrm>
          <a:prstGeom prst="ellipse">
            <a:avLst/>
          </a:prstGeom>
          <a:solidFill>
            <a:srgbClr val="EC4899"/>
          </a:solidFill>
          <a:ln/>
        </p:spPr>
      </p:sp>
      <p:pic>
        <p:nvPicPr>
          <p:cNvPr id="12" name="Image 1" descr="icons/cogs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3961" y="2547747"/>
            <a:ext cx="528066" cy="52806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795446" y="2221992"/>
            <a:ext cx="365760" cy="36576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2807894" y="3456432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 computes</a:t>
            </a:r>
            <a:endParaRPr lang="en-US" sz="1350" dirty="0"/>
          </a:p>
        </p:txBody>
      </p:sp>
      <p:sp>
        <p:nvSpPr>
          <p:cNvPr id="15" name="Text 11"/>
          <p:cNvSpPr/>
          <p:nvPr/>
        </p:nvSpPr>
        <p:spPr>
          <a:xfrm>
            <a:off x="2716454" y="3822192"/>
            <a:ext cx="17830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AAB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expenses, remaining income, savings &amp; expense ratios.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6575908" y="2811780"/>
            <a:ext cx="1527734" cy="0"/>
          </a:xfrm>
          <a:prstGeom prst="line">
            <a:avLst/>
          </a:prstGeom>
          <a:noFill/>
          <a:ln w="19050">
            <a:solidFill>
              <a:srgbClr val="3A3F63"/>
            </a:solidFill>
            <a:prstDash val="dash"/>
          </a:ln>
        </p:spPr>
      </p:sp>
      <p:sp>
        <p:nvSpPr>
          <p:cNvPr id="17" name="Shape 13"/>
          <p:cNvSpPr/>
          <p:nvPr/>
        </p:nvSpPr>
        <p:spPr>
          <a:xfrm>
            <a:off x="5615788" y="2331720"/>
            <a:ext cx="960120" cy="960120"/>
          </a:xfrm>
          <a:prstGeom prst="ellipse">
            <a:avLst/>
          </a:prstGeom>
          <a:solidFill>
            <a:srgbClr val="6366F1"/>
          </a:solidFill>
          <a:ln/>
        </p:spPr>
      </p:sp>
      <p:pic>
        <p:nvPicPr>
          <p:cNvPr id="18" name="Image 2" descr="icons/code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1815" y="2547747"/>
            <a:ext cx="528066" cy="52806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283300" y="2221992"/>
            <a:ext cx="365760" cy="36576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5295748" y="3456432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Prompt built</a:t>
            </a:r>
            <a:endParaRPr lang="en-US" sz="1350" dirty="0"/>
          </a:p>
        </p:txBody>
      </p:sp>
      <p:sp>
        <p:nvSpPr>
          <p:cNvPr id="21" name="Text 16"/>
          <p:cNvSpPr/>
          <p:nvPr/>
        </p:nvSpPr>
        <p:spPr>
          <a:xfrm>
            <a:off x="5204308" y="3822192"/>
            <a:ext cx="17830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AAB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Numbers inserted into LangChain prompts dynamically.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9063761" y="2811780"/>
            <a:ext cx="1527734" cy="0"/>
          </a:xfrm>
          <a:prstGeom prst="line">
            <a:avLst/>
          </a:prstGeom>
          <a:noFill/>
          <a:ln w="19050">
            <a:solidFill>
              <a:srgbClr val="3A3F63"/>
            </a:solidFill>
            <a:prstDash val="dash"/>
          </a:ln>
        </p:spPr>
      </p:sp>
      <p:sp>
        <p:nvSpPr>
          <p:cNvPr id="23" name="Shape 18"/>
          <p:cNvSpPr/>
          <p:nvPr/>
        </p:nvSpPr>
        <p:spPr>
          <a:xfrm>
            <a:off x="8103641" y="2331720"/>
            <a:ext cx="960120" cy="960120"/>
          </a:xfrm>
          <a:prstGeom prst="ellipse">
            <a:avLst/>
          </a:prstGeom>
          <a:solidFill>
            <a:srgbClr val="EC4899"/>
          </a:solidFill>
          <a:ln/>
        </p:spPr>
      </p:sp>
      <p:pic>
        <p:nvPicPr>
          <p:cNvPr id="24" name="Image 3" descr="icons/robot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19668" y="2547747"/>
            <a:ext cx="528066" cy="528066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8771153" y="2221992"/>
            <a:ext cx="365760" cy="36576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7783601" y="3456432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LLM analyses</a:t>
            </a:r>
            <a:endParaRPr lang="en-US" sz="1350" dirty="0"/>
          </a:p>
        </p:txBody>
      </p:sp>
      <p:sp>
        <p:nvSpPr>
          <p:cNvPr id="27" name="Text 21"/>
          <p:cNvSpPr/>
          <p:nvPr/>
        </p:nvSpPr>
        <p:spPr>
          <a:xfrm>
            <a:off x="7692161" y="3822192"/>
            <a:ext cx="17830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AAB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ChatOpenAI reasons over the user's financial situation.</a:t>
            </a:r>
            <a:endParaRPr lang="en-US" sz="1000" dirty="0"/>
          </a:p>
        </p:txBody>
      </p:sp>
      <p:sp>
        <p:nvSpPr>
          <p:cNvPr id="28" name="Shape 22"/>
          <p:cNvSpPr/>
          <p:nvPr/>
        </p:nvSpPr>
        <p:spPr>
          <a:xfrm>
            <a:off x="10591495" y="2331720"/>
            <a:ext cx="960120" cy="960120"/>
          </a:xfrm>
          <a:prstGeom prst="ellipse">
            <a:avLst/>
          </a:prstGeom>
          <a:solidFill>
            <a:srgbClr val="6366F1"/>
          </a:solidFill>
          <a:ln/>
        </p:spPr>
      </p:sp>
      <p:pic>
        <p:nvPicPr>
          <p:cNvPr id="29" name="Image 4" descr="icons/chart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07522" y="2547747"/>
            <a:ext cx="528066" cy="528066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11259007" y="2221992"/>
            <a:ext cx="365760" cy="36576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1" name="Text 24"/>
          <p:cNvSpPr/>
          <p:nvPr/>
        </p:nvSpPr>
        <p:spPr>
          <a:xfrm>
            <a:off x="10271455" y="3456432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renders</a:t>
            </a:r>
            <a:endParaRPr lang="en-US" sz="1350" dirty="0"/>
          </a:p>
        </p:txBody>
      </p:sp>
      <p:sp>
        <p:nvSpPr>
          <p:cNvPr id="32" name="Text 25"/>
          <p:cNvSpPr/>
          <p:nvPr/>
        </p:nvSpPr>
        <p:spPr>
          <a:xfrm>
            <a:off x="10180015" y="3822192"/>
            <a:ext cx="17830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AAB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JSON + streamed text shown in the UI.</a:t>
            </a:r>
            <a:endParaRPr lang="en-US" sz="1000" dirty="0"/>
          </a:p>
        </p:txBody>
      </p:sp>
      <p:sp>
        <p:nvSpPr>
          <p:cNvPr id="33" name="Text 26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FinWise AI</a:t>
            </a:r>
            <a:endParaRPr lang="en-US" sz="1000" dirty="0"/>
          </a:p>
        </p:txBody>
      </p:sp>
      <p:sp>
        <p:nvSpPr>
          <p:cNvPr id="34" name="Text 27"/>
          <p:cNvSpPr/>
          <p:nvPr/>
        </p:nvSpPr>
        <p:spPr>
          <a:xfrm>
            <a:off x="9905695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Deterministic math, kept separate from generative insight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5257800" cy="4206240"/>
          </a:xfrm>
          <a:prstGeom prst="roundRect">
            <a:avLst>
              <a:gd name="adj" fmla="val 3043"/>
            </a:avLst>
          </a:prstGeom>
          <a:solidFill>
            <a:srgbClr val="1A1F3A"/>
          </a:solidFill>
          <a:ln/>
        </p:spPr>
      </p:sp>
      <p:sp>
        <p:nvSpPr>
          <p:cNvPr id="5" name="Shape 3"/>
          <p:cNvSpPr/>
          <p:nvPr/>
        </p:nvSpPr>
        <p:spPr>
          <a:xfrm>
            <a:off x="1005840" y="2331720"/>
            <a:ext cx="731520" cy="731520"/>
          </a:xfrm>
          <a:prstGeom prst="ellipse">
            <a:avLst/>
          </a:prstGeom>
          <a:solidFill>
            <a:srgbClr val="6366F1"/>
          </a:solidFill>
          <a:ln/>
        </p:spPr>
      </p:sp>
      <p:pic>
        <p:nvPicPr>
          <p:cNvPr id="6" name="Image 0" descr="icons/cogs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0432" y="2496312"/>
            <a:ext cx="402336" cy="40233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920240" y="2423160"/>
            <a:ext cx="3703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 — deterministic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005840" y="3246120"/>
            <a:ext cx="4526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AAB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financial_calculator.py — same inputs always give the same outputs.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1005840" y="3849624"/>
            <a:ext cx="82296" cy="82296"/>
          </a:xfrm>
          <a:prstGeom prst="ellipse">
            <a:avLst/>
          </a:prstGeom>
          <a:solidFill>
            <a:srgbClr val="EC4899"/>
          </a:solidFill>
          <a:ln/>
        </p:spPr>
      </p:sp>
      <p:sp>
        <p:nvSpPr>
          <p:cNvPr id="10" name="Text 7"/>
          <p:cNvSpPr/>
          <p:nvPr/>
        </p:nvSpPr>
        <p:spPr>
          <a:xfrm>
            <a:off x="1234440" y="3721608"/>
            <a:ext cx="4343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5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total_expenses = sum(expenses)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1005840" y="4233672"/>
            <a:ext cx="82296" cy="82296"/>
          </a:xfrm>
          <a:prstGeom prst="ellipse">
            <a:avLst/>
          </a:prstGeom>
          <a:solidFill>
            <a:srgbClr val="EC4899"/>
          </a:solidFill>
          <a:ln/>
        </p:spPr>
      </p:sp>
      <p:sp>
        <p:nvSpPr>
          <p:cNvPr id="12" name="Text 9"/>
          <p:cNvSpPr/>
          <p:nvPr/>
        </p:nvSpPr>
        <p:spPr>
          <a:xfrm>
            <a:off x="1234440" y="4105656"/>
            <a:ext cx="4343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5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remaining_income = income − expenses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1005840" y="4617720"/>
            <a:ext cx="82296" cy="82296"/>
          </a:xfrm>
          <a:prstGeom prst="ellipse">
            <a:avLst/>
          </a:prstGeom>
          <a:solidFill>
            <a:srgbClr val="EC4899"/>
          </a:solidFill>
          <a:ln/>
        </p:spPr>
      </p:sp>
      <p:sp>
        <p:nvSpPr>
          <p:cNvPr id="14" name="Text 11"/>
          <p:cNvSpPr/>
          <p:nvPr/>
        </p:nvSpPr>
        <p:spPr>
          <a:xfrm>
            <a:off x="1234440" y="4489704"/>
            <a:ext cx="4343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5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savings_ratio = savings / income × 100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1005840" y="5001768"/>
            <a:ext cx="82296" cy="82296"/>
          </a:xfrm>
          <a:prstGeom prst="ellipse">
            <a:avLst/>
          </a:prstGeom>
          <a:solidFill>
            <a:srgbClr val="EC4899"/>
          </a:solidFill>
          <a:ln/>
        </p:spPr>
      </p:sp>
      <p:sp>
        <p:nvSpPr>
          <p:cNvPr id="16" name="Text 13"/>
          <p:cNvSpPr/>
          <p:nvPr/>
        </p:nvSpPr>
        <p:spPr>
          <a:xfrm>
            <a:off x="1234440" y="4873752"/>
            <a:ext cx="4343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5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expense_ratio = expenses / income × 100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1005840" y="5385816"/>
            <a:ext cx="82296" cy="82296"/>
          </a:xfrm>
          <a:prstGeom prst="ellipse">
            <a:avLst/>
          </a:prstGeom>
          <a:solidFill>
            <a:srgbClr val="EC4899"/>
          </a:solidFill>
          <a:ln/>
        </p:spPr>
      </p:sp>
      <p:sp>
        <p:nvSpPr>
          <p:cNvPr id="18" name="Text 15"/>
          <p:cNvSpPr/>
          <p:nvPr/>
        </p:nvSpPr>
        <p:spPr>
          <a:xfrm>
            <a:off x="1234440" y="5257800"/>
            <a:ext cx="4343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5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preliminary_score = weighted 0–100 heuristic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1005840" y="5769864"/>
            <a:ext cx="82296" cy="82296"/>
          </a:xfrm>
          <a:prstGeom prst="ellipse">
            <a:avLst/>
          </a:prstGeom>
          <a:solidFill>
            <a:srgbClr val="EC4899"/>
          </a:solidFill>
          <a:ln/>
        </p:spPr>
      </p:sp>
      <p:sp>
        <p:nvSpPr>
          <p:cNvPr id="20" name="Text 17"/>
          <p:cNvSpPr/>
          <p:nvPr/>
        </p:nvSpPr>
        <p:spPr>
          <a:xfrm>
            <a:off x="1234440" y="5641848"/>
            <a:ext cx="4343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5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Guards against divide-by-zero at income = 0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6263640" y="1965960"/>
            <a:ext cx="5257800" cy="4206240"/>
          </a:xfrm>
          <a:prstGeom prst="roundRect">
            <a:avLst>
              <a:gd name="adj" fmla="val 3043"/>
            </a:avLst>
          </a:prstGeom>
          <a:solidFill>
            <a:srgbClr val="FFFFFF"/>
          </a:solidFill>
          <a:ln w="12700">
            <a:solidFill>
              <a:srgbClr val="E5E4F5"/>
            </a:solidFill>
            <a:prstDash val="solid"/>
          </a:ln>
          <a:effectLst>
            <a:outerShdw sx="100000" sy="100000" kx="0" ky="0" algn="bl" rotWithShape="0" blurRad="101600" dist="25400" dir="5400000">
              <a:srgbClr val="1A1F3A">
                <a:alpha val="10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6629400" y="2331720"/>
            <a:ext cx="731520" cy="731520"/>
          </a:xfrm>
          <a:prstGeom prst="ellipse">
            <a:avLst/>
          </a:prstGeom>
          <a:solidFill>
            <a:srgbClr val="EC4899"/>
          </a:solidFill>
          <a:ln/>
        </p:spPr>
      </p:sp>
      <p:pic>
        <p:nvPicPr>
          <p:cNvPr id="23" name="Image 1" descr="icons/robot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3992" y="2496312"/>
            <a:ext cx="402336" cy="402336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7543800" y="2423160"/>
            <a:ext cx="3703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LangChain + LLM — generative</a:t>
            </a:r>
            <a:endParaRPr lang="en-US" sz="1800" dirty="0"/>
          </a:p>
        </p:txBody>
      </p:sp>
      <p:sp>
        <p:nvSpPr>
          <p:cNvPr id="25" name="Text 21"/>
          <p:cNvSpPr/>
          <p:nvPr/>
        </p:nvSpPr>
        <p:spPr>
          <a:xfrm>
            <a:off x="6629400" y="3246120"/>
            <a:ext cx="4526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chains.py + prompts.py — interprets numbers, never computes them.</a:t>
            </a:r>
            <a:endParaRPr lang="en-US" sz="1200" dirty="0"/>
          </a:p>
        </p:txBody>
      </p:sp>
      <p:sp>
        <p:nvSpPr>
          <p:cNvPr id="26" name="Shape 22"/>
          <p:cNvSpPr/>
          <p:nvPr/>
        </p:nvSpPr>
        <p:spPr>
          <a:xfrm>
            <a:off x="6629400" y="3849624"/>
            <a:ext cx="82296" cy="82296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27" name="Text 23"/>
          <p:cNvSpPr/>
          <p:nvPr/>
        </p:nvSpPr>
        <p:spPr>
          <a:xfrm>
            <a:off x="6858000" y="3721608"/>
            <a:ext cx="4343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ChatOpenAI model connection</a:t>
            </a:r>
            <a:endParaRPr lang="en-US" sz="1200" dirty="0"/>
          </a:p>
        </p:txBody>
      </p:sp>
      <p:sp>
        <p:nvSpPr>
          <p:cNvPr id="28" name="Shape 24"/>
          <p:cNvSpPr/>
          <p:nvPr/>
        </p:nvSpPr>
        <p:spPr>
          <a:xfrm>
            <a:off x="6629400" y="4233672"/>
            <a:ext cx="82296" cy="82296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29" name="Text 25"/>
          <p:cNvSpPr/>
          <p:nvPr/>
        </p:nvSpPr>
        <p:spPr>
          <a:xfrm>
            <a:off x="6858000" y="4105656"/>
            <a:ext cx="4343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PromptTemplate with financial variables</a:t>
            </a:r>
            <a:endParaRPr lang="en-US" sz="1200" dirty="0"/>
          </a:p>
        </p:txBody>
      </p:sp>
      <p:sp>
        <p:nvSpPr>
          <p:cNvPr id="30" name="Shape 26"/>
          <p:cNvSpPr/>
          <p:nvPr/>
        </p:nvSpPr>
        <p:spPr>
          <a:xfrm>
            <a:off x="6629400" y="4617720"/>
            <a:ext cx="82296" cy="82296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31" name="Text 27"/>
          <p:cNvSpPr/>
          <p:nvPr/>
        </p:nvSpPr>
        <p:spPr>
          <a:xfrm>
            <a:off x="6858000" y="4489704"/>
            <a:ext cx="4343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ChatPromptTemplate (system + human)</a:t>
            </a:r>
            <a:endParaRPr lang="en-US" sz="1200" dirty="0"/>
          </a:p>
        </p:txBody>
      </p:sp>
      <p:sp>
        <p:nvSpPr>
          <p:cNvPr id="32" name="Shape 28"/>
          <p:cNvSpPr/>
          <p:nvPr/>
        </p:nvSpPr>
        <p:spPr>
          <a:xfrm>
            <a:off x="6629400" y="5001768"/>
            <a:ext cx="82296" cy="82296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33" name="Text 29"/>
          <p:cNvSpPr/>
          <p:nvPr/>
        </p:nvSpPr>
        <p:spPr>
          <a:xfrm>
            <a:off x="6858000" y="4873752"/>
            <a:ext cx="4343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LLMChain → structured JSON output</a:t>
            </a:r>
            <a:endParaRPr lang="en-US" sz="1200" dirty="0"/>
          </a:p>
        </p:txBody>
      </p:sp>
      <p:sp>
        <p:nvSpPr>
          <p:cNvPr id="34" name="Shape 30"/>
          <p:cNvSpPr/>
          <p:nvPr/>
        </p:nvSpPr>
        <p:spPr>
          <a:xfrm>
            <a:off x="6629400" y="5385816"/>
            <a:ext cx="82296" cy="82296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35" name="Text 31"/>
          <p:cNvSpPr/>
          <p:nvPr/>
        </p:nvSpPr>
        <p:spPr>
          <a:xfrm>
            <a:off x="6858000" y="5257800"/>
            <a:ext cx="4343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summary, risk level, priorities</a:t>
            </a:r>
            <a:endParaRPr lang="en-US" sz="1200" dirty="0"/>
          </a:p>
        </p:txBody>
      </p:sp>
      <p:sp>
        <p:nvSpPr>
          <p:cNvPr id="36" name="Shape 32"/>
          <p:cNvSpPr/>
          <p:nvPr/>
        </p:nvSpPr>
        <p:spPr>
          <a:xfrm>
            <a:off x="6629400" y="5769864"/>
            <a:ext cx="82296" cy="82296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37" name="Text 33"/>
          <p:cNvSpPr/>
          <p:nvPr/>
        </p:nvSpPr>
        <p:spPr>
          <a:xfrm>
            <a:off x="6858000" y="5641848"/>
            <a:ext cx="4343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Streamed narrative recommendation</a:t>
            </a:r>
            <a:endParaRPr lang="en-US" sz="1200" dirty="0"/>
          </a:p>
        </p:txBody>
      </p:sp>
      <p:sp>
        <p:nvSpPr>
          <p:cNvPr id="38" name="Text 34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FinWise AI</a:t>
            </a:r>
            <a:endParaRPr lang="en-US" sz="1000" dirty="0"/>
          </a:p>
        </p:txBody>
      </p:sp>
      <p:sp>
        <p:nvSpPr>
          <p:cNvPr id="39" name="Text 35"/>
          <p:cNvSpPr/>
          <p:nvPr/>
        </p:nvSpPr>
        <p:spPr>
          <a:xfrm>
            <a:off x="9905695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on a modern, modular Python stack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148840"/>
            <a:ext cx="342900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5E4F5"/>
            </a:solidFill>
            <a:prstDash val="solid"/>
          </a:ln>
          <a:effectLst>
            <a:outerShdw sx="100000" sy="100000" kx="0" ky="0" algn="bl" rotWithShape="0" blurRad="76200" dist="25400" dir="5400000">
              <a:srgbClr val="1A1F3A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560320"/>
            <a:ext cx="685800" cy="685800"/>
          </a:xfrm>
          <a:prstGeom prst="ellipse">
            <a:avLst/>
          </a:prstGeom>
          <a:solidFill>
            <a:srgbClr val="6366F1"/>
          </a:solidFill>
          <a:ln/>
        </p:spPr>
      </p:sp>
      <p:pic>
        <p:nvPicPr>
          <p:cNvPr id="6" name="Image 0" descr="icons/cod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985" y="2714625"/>
            <a:ext cx="377190" cy="37719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7360" y="2441448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 3.10+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737360" y="2898648"/>
            <a:ext cx="21488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language &amp; calculations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325112" y="2148840"/>
            <a:ext cx="342900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5E4F5"/>
            </a:solidFill>
            <a:prstDash val="solid"/>
          </a:ln>
          <a:effectLst>
            <a:outerShdw sx="100000" sy="100000" kx="0" ky="0" algn="bl" rotWithShape="0" blurRad="76200" dist="25400" dir="5400000">
              <a:srgbClr val="1A1F3A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53712" y="2560320"/>
            <a:ext cx="685800" cy="685800"/>
          </a:xfrm>
          <a:prstGeom prst="ellipse">
            <a:avLst/>
          </a:prstGeom>
          <a:solidFill>
            <a:srgbClr val="EC4899"/>
          </a:solidFill>
          <a:ln/>
        </p:spPr>
      </p:sp>
      <p:pic>
        <p:nvPicPr>
          <p:cNvPr id="11" name="Image 1" descr="icons/layers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8017" y="2714625"/>
            <a:ext cx="377190" cy="37719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22392" y="2441448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LangChain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5422392" y="2898648"/>
            <a:ext cx="21488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langchain, -openai, -community, -core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8010144" y="2148840"/>
            <a:ext cx="342900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5E4F5"/>
            </a:solidFill>
            <a:prstDash val="solid"/>
          </a:ln>
          <a:effectLst>
            <a:outerShdw sx="100000" sy="100000" kx="0" ky="0" algn="bl" rotWithShape="0" blurRad="76200" dist="25400" dir="5400000">
              <a:srgbClr val="1A1F3A">
                <a:alpha val="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238744" y="2560320"/>
            <a:ext cx="685800" cy="685800"/>
          </a:xfrm>
          <a:prstGeom prst="ellipse">
            <a:avLst/>
          </a:prstGeom>
          <a:solidFill>
            <a:srgbClr val="6366F1"/>
          </a:solidFill>
          <a:ln/>
        </p:spPr>
      </p:sp>
      <p:pic>
        <p:nvPicPr>
          <p:cNvPr id="16" name="Image 2" descr="icons/cloud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3049" y="2714625"/>
            <a:ext cx="377190" cy="37719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107424" y="2441448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OpenAI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9107424" y="2898648"/>
            <a:ext cx="21488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ChatOpenAI, e.g. gpt-4o-mini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640080" y="4160520"/>
            <a:ext cx="342900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5E4F5"/>
            </a:solidFill>
            <a:prstDash val="solid"/>
          </a:ln>
          <a:effectLst>
            <a:outerShdw sx="100000" sy="100000" kx="0" ky="0" algn="bl" rotWithShape="0" blurRad="76200" dist="25400" dir="5400000">
              <a:srgbClr val="1A1F3A">
                <a:alpha val="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68680" y="4572000"/>
            <a:ext cx="685800" cy="685800"/>
          </a:xfrm>
          <a:prstGeom prst="ellipse">
            <a:avLst/>
          </a:prstGeom>
          <a:solidFill>
            <a:srgbClr val="EC4899"/>
          </a:solidFill>
          <a:ln/>
        </p:spPr>
      </p:sp>
      <p:pic>
        <p:nvPicPr>
          <p:cNvPr id="21" name="Image 3" descr="icons/wallet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2985" y="4726305"/>
            <a:ext cx="377190" cy="37719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737360" y="4453128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Streamlit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1737360" y="4910328"/>
            <a:ext cx="21488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FinTech dashboard UI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4325112" y="4160520"/>
            <a:ext cx="342900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5E4F5"/>
            </a:solidFill>
            <a:prstDash val="solid"/>
          </a:ln>
          <a:effectLst>
            <a:outerShdw sx="100000" sy="100000" kx="0" ky="0" algn="bl" rotWithShape="0" blurRad="76200" dist="25400" dir="5400000">
              <a:srgbClr val="1A1F3A">
                <a:alpha val="8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553712" y="4572000"/>
            <a:ext cx="685800" cy="685800"/>
          </a:xfrm>
          <a:prstGeom prst="ellipse">
            <a:avLst/>
          </a:prstGeom>
          <a:solidFill>
            <a:srgbClr val="6366F1"/>
          </a:solidFill>
          <a:ln/>
        </p:spPr>
      </p:sp>
      <p:pic>
        <p:nvPicPr>
          <p:cNvPr id="26" name="Image 4" descr="icons/shield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08017" y="4726305"/>
            <a:ext cx="377190" cy="37719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422392" y="4453128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python-dotenv</a:t>
            </a:r>
            <a:endParaRPr lang="en-US" sz="1500" dirty="0"/>
          </a:p>
        </p:txBody>
      </p:sp>
      <p:sp>
        <p:nvSpPr>
          <p:cNvPr id="28" name="Text 21"/>
          <p:cNvSpPr/>
          <p:nvPr/>
        </p:nvSpPr>
        <p:spPr>
          <a:xfrm>
            <a:off x="5422392" y="4910328"/>
            <a:ext cx="21488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via .env file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8010144" y="4160520"/>
            <a:ext cx="342900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5E4F5"/>
            </a:solidFill>
            <a:prstDash val="solid"/>
          </a:ln>
          <a:effectLst>
            <a:outerShdw sx="100000" sy="100000" kx="0" ky="0" algn="bl" rotWithShape="0" blurRad="76200" dist="25400" dir="5400000">
              <a:srgbClr val="1A1F3A">
                <a:alpha val="8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238744" y="4572000"/>
            <a:ext cx="685800" cy="685800"/>
          </a:xfrm>
          <a:prstGeom prst="ellipse">
            <a:avLst/>
          </a:prstGeom>
          <a:solidFill>
            <a:srgbClr val="EC4899"/>
          </a:solidFill>
          <a:ln/>
        </p:spPr>
      </p:sp>
      <p:pic>
        <p:nvPicPr>
          <p:cNvPr id="31" name="Image 5" descr="icons/database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93049" y="4726305"/>
            <a:ext cx="377190" cy="37719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9107424" y="4453128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InMemory + SQLite</a:t>
            </a:r>
            <a:endParaRPr lang="en-US" sz="1500" dirty="0"/>
          </a:p>
        </p:txBody>
      </p:sp>
      <p:sp>
        <p:nvSpPr>
          <p:cNvPr id="33" name="Text 25"/>
          <p:cNvSpPr/>
          <p:nvPr/>
        </p:nvSpPr>
        <p:spPr>
          <a:xfrm>
            <a:off x="9107424" y="4910328"/>
            <a:ext cx="21488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swappable LLM cache backends</a:t>
            </a:r>
            <a:endParaRPr lang="en-US" sz="1050" dirty="0"/>
          </a:p>
        </p:txBody>
      </p:sp>
      <p:sp>
        <p:nvSpPr>
          <p:cNvPr id="34" name="Text 26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FinWise AI</a:t>
            </a:r>
            <a:endParaRPr lang="en-US" sz="1000" dirty="0"/>
          </a:p>
        </p:txBody>
      </p:sp>
      <p:sp>
        <p:nvSpPr>
          <p:cNvPr id="35" name="Text 27"/>
          <p:cNvSpPr/>
          <p:nvPr/>
        </p:nvSpPr>
        <p:spPr>
          <a:xfrm>
            <a:off x="9905695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Structured JSON output, forced and safely parsed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5486400" cy="4251960"/>
          </a:xfrm>
          <a:prstGeom prst="roundRect">
            <a:avLst>
              <a:gd name="adj" fmla="val 2581"/>
            </a:avLst>
          </a:prstGeom>
          <a:solidFill>
            <a:srgbClr val="12162B"/>
          </a:solidFill>
          <a:ln w="12700">
            <a:solidFill>
              <a:srgbClr val="2A2F5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21488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BD0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JSON output schema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60120" y="2606040"/>
            <a:ext cx="4846320" cy="3337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9FE7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9FE7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"financial_summary": "",</a:t>
            </a:r>
            <a:endParaRPr lang="en-US" sz="12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9FE7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"financial_health_score": 0,</a:t>
            </a:r>
            <a:endParaRPr lang="en-US" sz="12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9FE7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"spending_analysis": [ {…} ],</a:t>
            </a:r>
            <a:endParaRPr lang="en-US" sz="12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9FE7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"risk_level": "",</a:t>
            </a:r>
            <a:endParaRPr lang="en-US" sz="12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9FE7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"top_priorities": [],</a:t>
            </a:r>
            <a:endParaRPr lang="en-US" sz="12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9FE7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"budget_recommendations": [],</a:t>
            </a:r>
            <a:endParaRPr lang="en-US" sz="12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9FE7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"savings_strategy": [],</a:t>
            </a:r>
            <a:endParaRPr lang="en-US" sz="12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9FE7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"next_month_action_plan": []</a:t>
            </a:r>
            <a:endParaRPr lang="en-US" sz="12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9FE7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92240" y="1920240"/>
            <a:ext cx="548640" cy="548640"/>
          </a:xfrm>
          <a:prstGeom prst="ellipse">
            <a:avLst/>
          </a:prstGeom>
          <a:solidFill>
            <a:srgbClr val="6366F1"/>
          </a:solidFill>
          <a:ln/>
        </p:spPr>
      </p:sp>
      <p:pic>
        <p:nvPicPr>
          <p:cNvPr id="8" name="Image 0" descr="icons/check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29400" y="2057400"/>
            <a:ext cx="274320" cy="2743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223760" y="1874520"/>
            <a:ext cx="43278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PromptTemplate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223760" y="2267712"/>
            <a:ext cx="432785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AAB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Single-string template carrying all financial variables.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492240" y="2999232"/>
            <a:ext cx="548640" cy="548640"/>
          </a:xfrm>
          <a:prstGeom prst="ellipse">
            <a:avLst/>
          </a:prstGeom>
          <a:solidFill>
            <a:srgbClr val="EC4899"/>
          </a:solidFill>
          <a:ln/>
        </p:spPr>
      </p:sp>
      <p:pic>
        <p:nvPicPr>
          <p:cNvPr id="12" name="Image 1" descr="icons/check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3136392"/>
            <a:ext cx="274320" cy="274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223760" y="2953512"/>
            <a:ext cx="43278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ChatPromptTemplate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7223760" y="3346704"/>
            <a:ext cx="432785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AAB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System + Human messages with safety rules.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6492240" y="4078224"/>
            <a:ext cx="548640" cy="548640"/>
          </a:xfrm>
          <a:prstGeom prst="ellipse">
            <a:avLst/>
          </a:prstGeom>
          <a:solidFill>
            <a:srgbClr val="6366F1"/>
          </a:solidFill>
          <a:ln/>
        </p:spPr>
      </p:sp>
      <p:pic>
        <p:nvPicPr>
          <p:cNvPr id="16" name="Image 2" descr="icons/check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400" y="4215384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7223760" y="4032504"/>
            <a:ext cx="43278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LLMChain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7223760" y="4425696"/>
            <a:ext cx="432785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AAB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chain: template → ChatOpenAI → JSON string.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492240" y="5157216"/>
            <a:ext cx="548640" cy="548640"/>
          </a:xfrm>
          <a:prstGeom prst="ellipse">
            <a:avLst/>
          </a:prstGeom>
          <a:solidFill>
            <a:srgbClr val="EC4899"/>
          </a:solidFill>
          <a:ln/>
        </p:spPr>
      </p:sp>
      <p:pic>
        <p:nvPicPr>
          <p:cNvPr id="20" name="Image 3" descr="icons/check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9400" y="5294376"/>
            <a:ext cx="274320" cy="27432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223760" y="5111496"/>
            <a:ext cx="43278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Safe JSON parse</a:t>
            </a:r>
            <a:endParaRPr lang="en-US" sz="1500" dirty="0"/>
          </a:p>
        </p:txBody>
      </p:sp>
      <p:sp>
        <p:nvSpPr>
          <p:cNvPr id="22" name="Text 16"/>
          <p:cNvSpPr/>
          <p:nvPr/>
        </p:nvSpPr>
        <p:spPr>
          <a:xfrm>
            <a:off x="7223760" y="5504688"/>
            <a:ext cx="432785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AAB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Strips markdown fences, validates, and falls back safely.</a:t>
            </a:r>
            <a:endParaRPr lang="en-US" sz="1150" dirty="0"/>
          </a:p>
        </p:txBody>
      </p:sp>
      <p:sp>
        <p:nvSpPr>
          <p:cNvPr id="23" name="Text 17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FinWise AI</a:t>
            </a:r>
            <a:endParaRPr lang="en-US" sz="1000" dirty="0"/>
          </a:p>
        </p:txBody>
      </p:sp>
      <p:sp>
        <p:nvSpPr>
          <p:cNvPr id="24" name="Text 18"/>
          <p:cNvSpPr/>
          <p:nvPr/>
        </p:nvSpPr>
        <p:spPr>
          <a:xfrm>
            <a:off x="9905695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streaming, with a swappable cache layer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5257800" cy="4206240"/>
          </a:xfrm>
          <a:prstGeom prst="roundRect">
            <a:avLst>
              <a:gd name="adj" fmla="val 3043"/>
            </a:avLst>
          </a:prstGeom>
          <a:solidFill>
            <a:srgbClr val="FFFFFF"/>
          </a:solidFill>
          <a:ln w="12700">
            <a:solidFill>
              <a:srgbClr val="E5E4F5"/>
            </a:solidFill>
            <a:prstDash val="solid"/>
          </a:ln>
          <a:effectLst>
            <a:outerShdw sx="100000" sy="100000" kx="0" ky="0" algn="bl" rotWithShape="0" blurRad="101600" dist="25400" dir="5400000">
              <a:srgbClr val="1A1F3A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05840" y="2331720"/>
            <a:ext cx="731520" cy="731520"/>
          </a:xfrm>
          <a:prstGeom prst="ellipse">
            <a:avLst/>
          </a:prstGeom>
          <a:solidFill>
            <a:srgbClr val="6366F1"/>
          </a:solidFill>
          <a:ln/>
        </p:spPr>
      </p:sp>
      <p:pic>
        <p:nvPicPr>
          <p:cNvPr id="6" name="Image 0" descr="icons/stream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0432" y="2496312"/>
            <a:ext cx="402336" cy="40233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920240" y="2423160"/>
            <a:ext cx="3703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Streaming output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005840" y="3337560"/>
            <a:ext cx="4526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model's .stream() method yields chunks as they're generated, displayed live with st.write_stream() for a natural typing effect — no waiting for the full response.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1005840" y="4389120"/>
            <a:ext cx="4526280" cy="1417320"/>
          </a:xfrm>
          <a:prstGeom prst="roundRect">
            <a:avLst>
              <a:gd name="adj" fmla="val 5161"/>
            </a:avLst>
          </a:prstGeom>
          <a:solidFill>
            <a:srgbClr val="1A1F3A"/>
          </a:solidFill>
          <a:ln/>
        </p:spPr>
      </p:sp>
      <p:sp>
        <p:nvSpPr>
          <p:cNvPr id="10" name="Text 7"/>
          <p:cNvSpPr/>
          <p:nvPr/>
        </p:nvSpPr>
        <p:spPr>
          <a:xfrm>
            <a:off x="1234440" y="4572000"/>
            <a:ext cx="40690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9FE7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chunk in llm.stream(messages):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9FE7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chunk.content: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9FE7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yield chunk.content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263640" y="1965960"/>
            <a:ext cx="5287975" cy="4206240"/>
          </a:xfrm>
          <a:prstGeom prst="roundRect">
            <a:avLst>
              <a:gd name="adj" fmla="val 3043"/>
            </a:avLst>
          </a:prstGeom>
          <a:solidFill>
            <a:srgbClr val="FFFFFF"/>
          </a:solidFill>
          <a:ln w="12700">
            <a:solidFill>
              <a:srgbClr val="E5E4F5"/>
            </a:solidFill>
            <a:prstDash val="solid"/>
          </a:ln>
          <a:effectLst>
            <a:outerShdw sx="100000" sy="100000" kx="0" ky="0" algn="bl" rotWithShape="0" blurRad="101600" dist="25400" dir="5400000">
              <a:srgbClr val="1A1F3A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629400" y="2331720"/>
            <a:ext cx="731520" cy="731520"/>
          </a:xfrm>
          <a:prstGeom prst="ellipse">
            <a:avLst/>
          </a:prstGeom>
          <a:solidFill>
            <a:srgbClr val="EC4899"/>
          </a:solidFill>
          <a:ln/>
        </p:spPr>
      </p:sp>
      <p:pic>
        <p:nvPicPr>
          <p:cNvPr id="13" name="Image 1" descr="icons/sync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3992" y="2496312"/>
            <a:ext cx="402336" cy="40233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543800" y="2423160"/>
            <a:ext cx="37334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Dual-mode caching</a:t>
            </a:r>
            <a:endParaRPr lang="en-US" sz="1700" dirty="0"/>
          </a:p>
        </p:txBody>
      </p:sp>
      <p:sp>
        <p:nvSpPr>
          <p:cNvPr id="15" name="Shape 11"/>
          <p:cNvSpPr/>
          <p:nvPr/>
        </p:nvSpPr>
        <p:spPr>
          <a:xfrm>
            <a:off x="6492240" y="3337560"/>
            <a:ext cx="4830775" cy="566928"/>
          </a:xfrm>
          <a:prstGeom prst="rect">
            <a:avLst/>
          </a:prstGeom>
          <a:solidFill>
            <a:srgbClr val="F1F0FC"/>
          </a:solidFill>
          <a:ln/>
        </p:spPr>
      </p:sp>
      <p:sp>
        <p:nvSpPr>
          <p:cNvPr id="16" name="Text 12"/>
          <p:cNvSpPr/>
          <p:nvPr/>
        </p:nvSpPr>
        <p:spPr>
          <a:xfrm>
            <a:off x="8549640" y="338328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In-Memory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10241280" y="338328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6629400" y="3950208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in</a:t>
            </a:r>
            <a:endParaRPr lang="en-US" sz="1150" dirty="0"/>
          </a:p>
        </p:txBody>
      </p:sp>
      <p:sp>
        <p:nvSpPr>
          <p:cNvPr id="19" name="Text 15"/>
          <p:cNvSpPr/>
          <p:nvPr/>
        </p:nvSpPr>
        <p:spPr>
          <a:xfrm>
            <a:off x="8549640" y="3950208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</a:t>
            </a:r>
            <a:endParaRPr lang="en-US" sz="1150" dirty="0"/>
          </a:p>
        </p:txBody>
      </p:sp>
      <p:sp>
        <p:nvSpPr>
          <p:cNvPr id="20" name="Text 16"/>
          <p:cNvSpPr/>
          <p:nvPr/>
        </p:nvSpPr>
        <p:spPr>
          <a:xfrm>
            <a:off x="10241280" y="3950208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Disk (.db file)</a:t>
            </a:r>
            <a:endParaRPr lang="en-US" sz="1150" dirty="0"/>
          </a:p>
        </p:txBody>
      </p:sp>
      <p:sp>
        <p:nvSpPr>
          <p:cNvPr id="21" name="Text 17"/>
          <p:cNvSpPr/>
          <p:nvPr/>
        </p:nvSpPr>
        <p:spPr>
          <a:xfrm>
            <a:off x="6629400" y="4517136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Survives restart?</a:t>
            </a:r>
            <a:endParaRPr lang="en-US" sz="1150" dirty="0"/>
          </a:p>
        </p:txBody>
      </p:sp>
      <p:sp>
        <p:nvSpPr>
          <p:cNvPr id="22" name="Text 18"/>
          <p:cNvSpPr/>
          <p:nvPr/>
        </p:nvSpPr>
        <p:spPr>
          <a:xfrm>
            <a:off x="8549640" y="4517136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150" dirty="0"/>
          </a:p>
        </p:txBody>
      </p:sp>
      <p:sp>
        <p:nvSpPr>
          <p:cNvPr id="23" name="Text 19"/>
          <p:cNvSpPr/>
          <p:nvPr/>
        </p:nvSpPr>
        <p:spPr>
          <a:xfrm>
            <a:off x="10241280" y="4517136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150" dirty="0"/>
          </a:p>
        </p:txBody>
      </p:sp>
      <p:sp>
        <p:nvSpPr>
          <p:cNvPr id="24" name="Text 20"/>
          <p:cNvSpPr/>
          <p:nvPr/>
        </p:nvSpPr>
        <p:spPr>
          <a:xfrm>
            <a:off x="6629400" y="5084064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</a:t>
            </a:r>
            <a:endParaRPr lang="en-US" sz="1150" dirty="0"/>
          </a:p>
        </p:txBody>
      </p:sp>
      <p:sp>
        <p:nvSpPr>
          <p:cNvPr id="25" name="Text 21"/>
          <p:cNvSpPr/>
          <p:nvPr/>
        </p:nvSpPr>
        <p:spPr>
          <a:xfrm>
            <a:off x="8549640" y="5084064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session</a:t>
            </a:r>
            <a:endParaRPr lang="en-US" sz="1150" dirty="0"/>
          </a:p>
        </p:txBody>
      </p:sp>
      <p:sp>
        <p:nvSpPr>
          <p:cNvPr id="26" name="Text 22"/>
          <p:cNvSpPr/>
          <p:nvPr/>
        </p:nvSpPr>
        <p:spPr>
          <a:xfrm>
            <a:off x="10241280" y="5084064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Cross-session reuse</a:t>
            </a:r>
            <a:endParaRPr lang="en-US" sz="1150" dirty="0"/>
          </a:p>
        </p:txBody>
      </p:sp>
      <p:sp>
        <p:nvSpPr>
          <p:cNvPr id="27" name="Text 23"/>
          <p:cNvSpPr/>
          <p:nvPr/>
        </p:nvSpPr>
        <p:spPr>
          <a:xfrm>
            <a:off x="6629400" y="5486400"/>
            <a:ext cx="455645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set_llm_cache(...) registers one global cache — LangChain checks it before every call.</a:t>
            </a:r>
            <a:endParaRPr lang="en-US" sz="1050" dirty="0"/>
          </a:p>
        </p:txBody>
      </p:sp>
      <p:sp>
        <p:nvSpPr>
          <p:cNvPr id="28" name="Text 24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FinWise AI</a:t>
            </a:r>
            <a:endParaRPr lang="en-US" sz="1000" dirty="0"/>
          </a:p>
        </p:txBody>
      </p:sp>
      <p:sp>
        <p:nvSpPr>
          <p:cNvPr id="29" name="Text 25"/>
          <p:cNvSpPr/>
          <p:nvPr/>
        </p:nvSpPr>
        <p:spPr>
          <a:xfrm>
            <a:off x="9905695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flow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focused screens — connect, enter, discover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148840"/>
            <a:ext cx="3383280" cy="356616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E5E4F5"/>
            </a:solidFill>
            <a:prstDash val="solid"/>
          </a:ln>
          <a:effectLst>
            <a:outerShdw sx="100000" sy="100000" kx="0" ky="0" algn="bl" rotWithShape="0" blurRad="127000" dist="38100" dir="5400000">
              <a:srgbClr val="1A1F3A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441448"/>
            <a:ext cx="1051560" cy="329184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2441448"/>
            <a:ext cx="1051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971800" y="2377440"/>
            <a:ext cx="640080" cy="640080"/>
          </a:xfrm>
          <a:prstGeom prst="ellipse">
            <a:avLst/>
          </a:prstGeom>
          <a:solidFill>
            <a:srgbClr val="6366F1"/>
          </a:solidFill>
          <a:ln/>
        </p:spPr>
      </p:sp>
      <p:pic>
        <p:nvPicPr>
          <p:cNvPr id="8" name="Image 0" descr="icons/key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15818" y="2521458"/>
            <a:ext cx="352044" cy="35204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60120" y="33832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Connect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960120" y="3931920"/>
            <a:ext cx="274320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enters their own OpenAI API key and picks a model — kept only in session, never saved to disk.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434840" y="2148840"/>
            <a:ext cx="3383280" cy="356616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E5E4F5"/>
            </a:solidFill>
            <a:prstDash val="solid"/>
          </a:ln>
          <a:effectLst>
            <a:outerShdw sx="100000" sy="100000" kx="0" ky="0" algn="bl" rotWithShape="0" blurRad="127000" dist="38100" dir="5400000">
              <a:srgbClr val="1A1F3A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754880" y="2441448"/>
            <a:ext cx="1051560" cy="329184"/>
          </a:xfrm>
          <a:prstGeom prst="roundRect">
            <a:avLst>
              <a:gd name="adj" fmla="val 50000"/>
            </a:avLst>
          </a:prstGeom>
          <a:solidFill>
            <a:srgbClr val="EC4899"/>
          </a:solidFill>
          <a:ln/>
        </p:spPr>
      </p:sp>
      <p:sp>
        <p:nvSpPr>
          <p:cNvPr id="13" name="Text 10"/>
          <p:cNvSpPr/>
          <p:nvPr/>
        </p:nvSpPr>
        <p:spPr>
          <a:xfrm>
            <a:off x="4754880" y="2441448"/>
            <a:ext cx="1051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6766560" y="2377440"/>
            <a:ext cx="640080" cy="640080"/>
          </a:xfrm>
          <a:prstGeom prst="ellipse">
            <a:avLst/>
          </a:prstGeom>
          <a:solidFill>
            <a:srgbClr val="EC4899"/>
          </a:solidFill>
          <a:ln/>
        </p:spPr>
      </p:sp>
      <p:pic>
        <p:nvPicPr>
          <p:cNvPr id="15" name="Image 1" descr="icons/listol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10578" y="2521458"/>
            <a:ext cx="352044" cy="352044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754880" y="33832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Enter finances</a:t>
            </a:r>
            <a:endParaRPr lang="en-US" sz="1900" dirty="0"/>
          </a:p>
        </p:txBody>
      </p:sp>
      <p:sp>
        <p:nvSpPr>
          <p:cNvPr id="17" name="Text 13"/>
          <p:cNvSpPr/>
          <p:nvPr/>
        </p:nvSpPr>
        <p:spPr>
          <a:xfrm>
            <a:off x="4754880" y="3931920"/>
            <a:ext cx="274320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Income, 10 expense categories, savings, goal &amp; currency — organized in tabs and columns.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8229600" y="2148840"/>
            <a:ext cx="3383280" cy="356616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E5E4F5"/>
            </a:solidFill>
            <a:prstDash val="solid"/>
          </a:ln>
          <a:effectLst>
            <a:outerShdw sx="100000" sy="100000" kx="0" ky="0" algn="bl" rotWithShape="0" blurRad="127000" dist="38100" dir="5400000">
              <a:srgbClr val="1A1F3A">
                <a:alpha val="12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8549640" y="2441448"/>
            <a:ext cx="1051560" cy="329184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/>
        </p:spPr>
      </p:sp>
      <p:sp>
        <p:nvSpPr>
          <p:cNvPr id="20" name="Text 16"/>
          <p:cNvSpPr/>
          <p:nvPr/>
        </p:nvSpPr>
        <p:spPr>
          <a:xfrm>
            <a:off x="8549640" y="2441448"/>
            <a:ext cx="1051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000" dirty="0"/>
          </a:p>
        </p:txBody>
      </p:sp>
      <p:sp>
        <p:nvSpPr>
          <p:cNvPr id="21" name="Shape 17"/>
          <p:cNvSpPr/>
          <p:nvPr/>
        </p:nvSpPr>
        <p:spPr>
          <a:xfrm>
            <a:off x="10561320" y="2377440"/>
            <a:ext cx="640080" cy="640080"/>
          </a:xfrm>
          <a:prstGeom prst="ellipse">
            <a:avLst/>
          </a:prstGeom>
          <a:solidFill>
            <a:srgbClr val="6366F1"/>
          </a:solidFill>
          <a:ln/>
        </p:spPr>
      </p:sp>
      <p:pic>
        <p:nvPicPr>
          <p:cNvPr id="22" name="Image 2" descr="icons/chart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05338" y="2521458"/>
            <a:ext cx="352044" cy="352044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8549640" y="33832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</a:t>
            </a:r>
            <a:endParaRPr lang="en-US" sz="1900" dirty="0"/>
          </a:p>
        </p:txBody>
      </p:sp>
      <p:sp>
        <p:nvSpPr>
          <p:cNvPr id="24" name="Text 19"/>
          <p:cNvSpPr/>
          <p:nvPr/>
        </p:nvSpPr>
        <p:spPr>
          <a:xfrm>
            <a:off x="8549640" y="3931920"/>
            <a:ext cx="274320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Metrics, expense chart, health score, risk level, priorities, and a live-streamed recommendation.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4119372" y="3657600"/>
            <a:ext cx="320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7CA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26" name="Text 21"/>
          <p:cNvSpPr/>
          <p:nvPr/>
        </p:nvSpPr>
        <p:spPr>
          <a:xfrm>
            <a:off x="7914132" y="3657600"/>
            <a:ext cx="320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7CA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27" name="Text 22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FinWise AI</a:t>
            </a:r>
            <a:endParaRPr lang="en-US" sz="1000" dirty="0"/>
          </a:p>
        </p:txBody>
      </p:sp>
      <p:sp>
        <p:nvSpPr>
          <p:cNvPr id="28" name="Text 23"/>
          <p:cNvSpPr/>
          <p:nvPr/>
        </p:nvSpPr>
        <p:spPr>
          <a:xfrm>
            <a:off x="9905695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scenarios cover the score &amp; risk-level spectrum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11535" cy="502920"/>
          </a:xfrm>
          <a:prstGeom prst="roundRect">
            <a:avLst>
              <a:gd name="adj" fmla="val 10909"/>
            </a:avLst>
          </a:prstGeom>
          <a:solidFill>
            <a:srgbClr val="252B4F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96596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7CA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754880" y="196596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7CA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Calculation result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412480" y="196596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7CA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AI response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2468880"/>
            <a:ext cx="10911535" cy="713232"/>
          </a:xfrm>
          <a:prstGeom prst="rect">
            <a:avLst/>
          </a:prstGeom>
          <a:solidFill>
            <a:srgbClr val="1F2444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468880"/>
            <a:ext cx="36118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5E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 8000, expenses ~2000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754880" y="2468880"/>
            <a:ext cx="33375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5E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positive remaining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8412480" y="2468880"/>
            <a:ext cx="29718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FE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score · LOW risk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22960" y="3182112"/>
            <a:ext cx="36118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5E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 2000, expenses ~2600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754880" y="3182112"/>
            <a:ext cx="33375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5E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Expense ratio &gt; 100%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8412480" y="3182112"/>
            <a:ext cx="29718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FE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score · HIGH risk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40080" y="3895344"/>
            <a:ext cx="10911535" cy="713232"/>
          </a:xfrm>
          <a:prstGeom prst="rect">
            <a:avLst/>
          </a:prstGeom>
          <a:solidFill>
            <a:srgbClr val="1F2444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3895344"/>
            <a:ext cx="36118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5E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 5000, debt 2500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754880" y="3895344"/>
            <a:ext cx="33375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5E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debt share of income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8412480" y="3895344"/>
            <a:ext cx="29718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FE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MEDIUM/HIGH risk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822960" y="4608576"/>
            <a:ext cx="36118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5E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 4000, savings 1200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754880" y="4608576"/>
            <a:ext cx="33375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5E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Savings ratio ~30%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8412480" y="4608576"/>
            <a:ext cx="29718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FE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score · LOW risk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40080" y="5321808"/>
            <a:ext cx="10911535" cy="713232"/>
          </a:xfrm>
          <a:prstGeom prst="rect">
            <a:avLst/>
          </a:prstGeom>
          <a:solidFill>
            <a:srgbClr val="1F2444"/>
          </a:solidFill>
          <a:ln/>
        </p:spPr>
      </p:sp>
      <p:sp>
        <p:nvSpPr>
          <p:cNvPr id="23" name="Text 21"/>
          <p:cNvSpPr/>
          <p:nvPr/>
        </p:nvSpPr>
        <p:spPr>
          <a:xfrm>
            <a:off x="822960" y="5321808"/>
            <a:ext cx="36118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5E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 3000, expenses 3000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754880" y="5321808"/>
            <a:ext cx="33375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5E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Remaining income = 0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8412480" y="5321808"/>
            <a:ext cx="29718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FE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MEDIUM/HIGH risk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FinWise AI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9905695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3840480"/>
            <a:ext cx="4754880" cy="4754880"/>
          </a:xfrm>
          <a:prstGeom prst="ellipse">
            <a:avLst/>
          </a:prstGeom>
          <a:solidFill>
            <a:srgbClr val="6366F1">
              <a:alpha val="1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22960" y="822960"/>
            <a:ext cx="777240" cy="777240"/>
          </a:xfrm>
          <a:prstGeom prst="ellipse">
            <a:avLst/>
          </a:prstGeom>
          <a:solidFill>
            <a:srgbClr val="EC4899"/>
          </a:solidFill>
          <a:ln/>
        </p:spPr>
      </p:sp>
      <p:pic>
        <p:nvPicPr>
          <p:cNvPr id="4" name="Image 0" descr="icons/shield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7839" y="997839"/>
            <a:ext cx="427482" cy="42748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18288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Educational use only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822960" y="260604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CBD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FinWise AI is an educational prototype. It never guarantees investment outcomes, executes transactions, or connects to real bank accounts. Every screen carries a disclaimer directing users to a qualified financial professional.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822960" y="3794760"/>
            <a:ext cx="2834640" cy="0"/>
          </a:xfrm>
          <a:prstGeom prst="line">
            <a:avLst/>
          </a:prstGeom>
          <a:noFill/>
          <a:ln w="12700">
            <a:solidFill>
              <a:srgbClr val="3A3F6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22960" y="406908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C48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822960" y="46177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repository · README · Demo recording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FinWise AI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9905695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2026-08-31T04:49:36Z</dcterms:created>
  <dcterms:modified xsi:type="dcterms:W3CDTF">2026-08-31T04:49:36Z</dcterms:modified>
</cp:coreProperties>
</file>